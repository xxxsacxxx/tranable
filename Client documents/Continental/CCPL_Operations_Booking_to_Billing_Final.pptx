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C7293"/>
            </a:solidFill>
            <a:ln w="34925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FY26-27</c:v>
                  </c:pt>
                  <c:pt idx="1">
                    <c:v>FY27-28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</c:v>
                </c:pt>
                <c:pt idx="1">
                  <c:v>2000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Back-office headcount</c:v>
                </c:pt>
              </c:strCache>
            </c:strRef>
          </c:tx>
          <c:spPr>
            <a:solidFill>
              <a:srgbClr val="B23A48"/>
            </a:solidFill>
            <a:ln w="34925" cap="flat">
              <a:solidFill>
                <a:srgbClr val="B23A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FY26-27</c:v>
                  </c:pt>
                  <c:pt idx="1">
                    <c:v>FY27-28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300</c:v>
                </c:pt>
                <c:pt idx="1">
                  <c:v>150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9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leakage (%)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Unbilled accessorials &amp; detention/demurrage</c:v>
                  </c:pt>
                  <c:pt idx="1">
                    <c:v>Rate-card / buy-sell mismatches</c:v>
                  </c:pt>
                  <c:pt idx="2">
                    <c:v>Missed destination &amp; last-mile charges</c:v>
                  </c:pt>
                  <c:pt idx="3">
                    <c:v>Uncontrolled credit notes / write-offs</c:v>
                  </c:pt>
                  <c:pt idx="4">
                    <c:v>FX &amp; duty/tax recovery gaps</c:v>
                  </c:pt>
                  <c:pt idx="5">
                    <c:v>Other (data entry, disputes, timing)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22</c:v>
                </c:pt>
                <c:pt idx="2">
                  <c:v>16</c:v>
                </c:pt>
                <c:pt idx="3">
                  <c:v>14</c:v>
                </c:pt>
                <c:pt idx="4">
                  <c:v>10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avg. days to bill (illustrative)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Air Import/Export</c:v>
                  </c:pt>
                  <c:pt idx="1">
                    <c:v>Ocean Export</c:v>
                  </c:pt>
                  <c:pt idx="2">
                    <c:v>Ocean Import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CCPL TAT rule (working days)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Air Import/Export</c:v>
                  </c:pt>
                  <c:pt idx="1">
                    <c:v>Ocean Export</c:v>
                  </c:pt>
                  <c:pt idx="2">
                    <c:v>Ocean Import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9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ageing mix (%)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0–30 days</c:v>
                  </c:pt>
                  <c:pt idx="1">
                    <c:v>31–60 days</c:v>
                  </c:pt>
                  <c:pt idx="2">
                    <c:v>61–90 days</c:v>
                  </c:pt>
                  <c:pt idx="3">
                    <c:v>90+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ageing mix (%)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0–30 days</c:v>
                  </c:pt>
                  <c:pt idx="1">
                    <c:v>31–60 days</c:v>
                  </c:pt>
                  <c:pt idx="2">
                    <c:v>61–90 days</c:v>
                  </c:pt>
                  <c:pt idx="3">
                    <c:v>90+ days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22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9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DEEP-DIVE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Structure: Booking to Billing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discipline from confirmed booking through cash collection — closing revenue leakage, compressing time-to-bill, and accelerating recovery.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617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4617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4617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6177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46177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Time-to-bill &amp; recovery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AI-Led Back Office strategy deck  —  Scope: booking → billing → collection (sales &amp; inquiry-to-quote covered separately)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Deep-Dive Starts and Stops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strategy deck covered sales, enquiry and quotation. This deep-dive picks up from a confirmed booking and follows the job through to cash in the bank.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HERE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development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handling and RFQ intake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Quotation, rate selection &amp; margin approval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itself (the handoff point)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execution &amp; documentation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execution, milestones &amp; customs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proof of delivery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charge capture &amp; invoicing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follow-up and cash recovery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across every stage above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AS A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Pooled Ops Hub, Not One Team per Branch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is organised as a single cross-branch structure with clear ownership at each stage of the job — not a documentation clerk sitting in every branch doing every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33172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Documentation Cell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bookings, gathers mandatory data, validates shipping documents (BL/AWB/invoice/packing list).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&amp; Customs Cell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926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milestones, coordinates with carriers/CFS/CB, manages customs (CB) filings and holds.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33172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360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POD Cell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26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final delivery and captures proof of delivery — the trigger event for billing.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2976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Cell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892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 chargeable events, reconciles buy/sell, raises invoices within TAT.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114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988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Cell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892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accounts receivable follow-up ladder and cash recovery against every invoice.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92440" y="4114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29768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936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Controls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92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across all cells: audit trail, approval thresholds, DPDP and customs governance.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BACK OFFICE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People to 150 — While Revenue Goes to ₹2,000 Cr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over the routine work inside this booking-to-billing structure so the same (smaller) team can carry 2.5x the revenue. This is the operations-function headcount specifically — booking, execution, delivery, billing and collections — not CCPL's total company headcount.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→ 150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headcount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(booking through collections)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2402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→ 2,000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 Cr) carried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 same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2402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₹2.7 Cr → ₹13.3 Cr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handled per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FTE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22402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1540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back-office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productivity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2-year ramp, as specified — headcount and revenue move together in a single, fast AI rollout, not spread over four years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4434840"/>
          <a:ext cx="6949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44348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09244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chart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892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FY26-27 is the baseline: 300 FTE carrying ₹800 Cr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FY27-28 is the target: 150 FTE carrying ₹2,000 Cr — a one-year compression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materially faster than the 24-month, 4-phase rollout later in this deck — every agent must be live well within FY27-28 for this to hold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by Cell — Where AI Removes the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potential is not even across the structure: rules-based, document-heavy cells shrink the most; judgement- and relationship-heavy cells shrink the least.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01752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2148840"/>
            <a:ext cx="118872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118872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148840"/>
            <a:ext cx="137160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148840"/>
            <a:ext cx="4297680" cy="548640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Documentation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69748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−67%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2697480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Agent + Document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30175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Customs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324612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246120"/>
            <a:ext cx="137160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−43%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3246120"/>
            <a:ext cx="429768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0664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Agent + Exception Agent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POD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379476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379476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5040" y="3794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0" y="3794760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0664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e-POD capture + Delivery automation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343400"/>
            <a:ext cx="30175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566160" y="434340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57600" y="4343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434340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46320" y="4343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4343400"/>
            <a:ext cx="137160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3504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−58%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0" y="4343400"/>
            <a:ext cx="429768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0664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 + 3-way match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89204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566160" y="489204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0" y="4892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54880" y="489204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0" y="4892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943600" y="489204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35040" y="4892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315200" y="4892040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06640" y="4892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Agent (routine follow-up only)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440680"/>
            <a:ext cx="30175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0080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566160" y="544068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657600" y="5440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54880" y="5440680"/>
            <a:ext cx="118872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846320" y="5440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943600" y="5440680"/>
            <a:ext cx="137160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035040" y="5440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315200" y="5440680"/>
            <a:ext cx="4297680" cy="548640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06640" y="5440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human-led by design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8640" y="5989320"/>
            <a:ext cx="3017520" cy="548640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0080" y="5989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566160" y="5989320"/>
            <a:ext cx="1188720" cy="548640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657600" y="5989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754880" y="5989320"/>
            <a:ext cx="1188720" cy="548640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846320" y="5989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943600" y="5989320"/>
            <a:ext cx="1371600" cy="548640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035040" y="5989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315200" y="5989320"/>
            <a:ext cx="4297680" cy="548640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406640" y="5989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6766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 stays flat on purpose — regulatory judgement, filing sign-off and audit ownership remain with people even as everything around them is automated.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to Cash — Six Stages, One Owner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3756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3756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16836" y="16916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1428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3315C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1428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64508" y="16916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29100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29100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CUSTOMS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12180" y="16916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6772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3315C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6772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9852" y="16916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4444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4444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907524" y="16916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72116" y="169164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3315C"/>
          </a:solidFill>
          <a:ln w="9525">
            <a:solidFill>
              <a:srgbClr val="2E5C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72116" y="16916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0312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Cell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950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1094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Cell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2732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1876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Cell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3514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2658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Cell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44296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3440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Cell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50780" y="2971800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142220" y="2971800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Cell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593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1168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10312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Agent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1950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71094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2732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1876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Agent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3514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2658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Agent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44296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53440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050780" y="3593592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142220" y="3593592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Agent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2153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risk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1168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10312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1950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71094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2732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31876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3514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92658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(POD gaps)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4296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53440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(missed charges)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050780" y="4215384"/>
            <a:ext cx="151638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142220" y="4215384"/>
            <a:ext cx="1333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(ageing/write-off)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writes to the same digital job record — leakage and delay are visible the moment they happen, not at month-end reconciliation.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WORKFORCE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Agents Covering Every Step, Booking to Cash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digital workforce behind the 300 → 150 headcount plan — each agent owns a defined slice of the process, with a clear human escalation point. Full specification on the following pages.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134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Agent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2478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Documentation</a:t>
            </a:r>
            <a:endParaRPr lang="en-US" sz="78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bookings, checks cut-offs, validates mandatory data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319272" y="21488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23134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643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Agent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3922776" y="2478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Documentation</a:t>
            </a:r>
            <a:endParaRPr lang="en-US" sz="78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structures BL/AWB/invoice/CB documents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135624" y="21488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23134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2784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739128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Agent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6739128" y="2478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Customs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carrier/port events; keeps the timeline current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951976" y="21488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89136" y="23134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8913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Agent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478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Customs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9089136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job for delays, holds and missing data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2920" y="320040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06424" y="3264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Agent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</a:t>
            </a:r>
            <a:endParaRPr lang="en-US" sz="78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licensing, filing deadlines and the audit trail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319272" y="320040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56432" y="33649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5643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922776" y="3264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&amp; Screening Agent</a:t>
            </a:r>
            <a:endParaRPr lang="en-US" sz="1030" dirty="0"/>
          </a:p>
        </p:txBody>
      </p:sp>
      <p:sp>
        <p:nvSpPr>
          <p:cNvPr id="39" name="Text 37"/>
          <p:cNvSpPr txBox="1"/>
          <p:nvPr/>
        </p:nvSpPr>
        <p:spPr>
          <a:xfrm>
            <a:off x="3922776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3456432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customers/vendors and screens against sanctions lists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135624" y="320040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72784" y="33649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72784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739128" y="3264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/ POD Agent</a:t>
            </a:r>
            <a:endParaRPr lang="en-US" sz="1030" dirty="0"/>
          </a:p>
        </p:txBody>
      </p:sp>
      <p:sp>
        <p:nvSpPr>
          <p:cNvPr id="45" name="Text 43"/>
          <p:cNvSpPr txBox="1"/>
          <p:nvPr/>
        </p:nvSpPr>
        <p:spPr>
          <a:xfrm>
            <a:off x="6739128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POD</a:t>
            </a:r>
            <a:endParaRPr lang="en-US" sz="780" dirty="0"/>
          </a:p>
        </p:txBody>
      </p:sp>
      <p:sp>
        <p:nvSpPr>
          <p:cNvPr id="46" name="Text 44"/>
          <p:cNvSpPr txBox="1"/>
          <p:nvPr/>
        </p:nvSpPr>
        <p:spPr>
          <a:xfrm>
            <a:off x="6272784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proof of delivery and triggers billing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951976" y="320040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089136" y="33649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089136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555480" y="3264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Agent</a:t>
            </a:r>
            <a:endParaRPr lang="en-US" sz="1030" dirty="0"/>
          </a:p>
        </p:txBody>
      </p:sp>
      <p:sp>
        <p:nvSpPr>
          <p:cNvPr id="51" name="Text 49"/>
          <p:cNvSpPr txBox="1"/>
          <p:nvPr/>
        </p:nvSpPr>
        <p:spPr>
          <a:xfrm>
            <a:off x="9555480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780" dirty="0"/>
          </a:p>
        </p:txBody>
      </p:sp>
      <p:sp>
        <p:nvSpPr>
          <p:cNvPr id="52" name="Text 50"/>
          <p:cNvSpPr txBox="1"/>
          <p:nvPr/>
        </p:nvSpPr>
        <p:spPr>
          <a:xfrm>
            <a:off x="9089136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charge lines and raises invoices within TAT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02920" y="425196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" y="441655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008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1106424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Assurance Agent</a:t>
            </a:r>
            <a:endParaRPr lang="en-US" sz="1030" dirty="0"/>
          </a:p>
        </p:txBody>
      </p:sp>
      <p:sp>
        <p:nvSpPr>
          <p:cNvPr id="57" name="Text 55"/>
          <p:cNvSpPr txBox="1"/>
          <p:nvPr/>
        </p:nvSpPr>
        <p:spPr>
          <a:xfrm>
            <a:off x="1106424" y="4581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78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three-way match to stop leakage before invoicing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319272" y="425196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456432" y="441655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45643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3922776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Note &amp; Approval Agent</a:t>
            </a:r>
            <a:endParaRPr lang="en-US" sz="1030" dirty="0"/>
          </a:p>
        </p:txBody>
      </p:sp>
      <p:sp>
        <p:nvSpPr>
          <p:cNvPr id="63" name="Text 61"/>
          <p:cNvSpPr txBox="1"/>
          <p:nvPr/>
        </p:nvSpPr>
        <p:spPr>
          <a:xfrm>
            <a:off x="3922776" y="4581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780" dirty="0"/>
          </a:p>
        </p:txBody>
      </p:sp>
      <p:sp>
        <p:nvSpPr>
          <p:cNvPr id="64" name="Text 62"/>
          <p:cNvSpPr txBox="1"/>
          <p:nvPr/>
        </p:nvSpPr>
        <p:spPr>
          <a:xfrm>
            <a:off x="3456432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every credit note against a reason and an approver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6135624" y="425196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272784" y="441655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272784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6739128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Agent</a:t>
            </a:r>
            <a:endParaRPr lang="en-US" sz="1030" dirty="0"/>
          </a:p>
        </p:txBody>
      </p:sp>
      <p:sp>
        <p:nvSpPr>
          <p:cNvPr id="69" name="Text 67"/>
          <p:cNvSpPr txBox="1"/>
          <p:nvPr/>
        </p:nvSpPr>
        <p:spPr>
          <a:xfrm>
            <a:off x="6739128" y="4581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80" dirty="0"/>
          </a:p>
        </p:txBody>
      </p:sp>
      <p:sp>
        <p:nvSpPr>
          <p:cNvPr id="70" name="Text 68"/>
          <p:cNvSpPr txBox="1"/>
          <p:nvPr/>
        </p:nvSpPr>
        <p:spPr>
          <a:xfrm>
            <a:off x="6272784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follow-up ladder by ageing bucket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8951976" y="425196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089136" y="441655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089136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9555480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Resolution Agent</a:t>
            </a:r>
            <a:endParaRPr lang="en-US" sz="1030" dirty="0"/>
          </a:p>
        </p:txBody>
      </p:sp>
      <p:sp>
        <p:nvSpPr>
          <p:cNvPr id="75" name="Text 73"/>
          <p:cNvSpPr txBox="1"/>
          <p:nvPr/>
        </p:nvSpPr>
        <p:spPr>
          <a:xfrm>
            <a:off x="9555480" y="4581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80" dirty="0"/>
          </a:p>
        </p:txBody>
      </p:sp>
      <p:sp>
        <p:nvSpPr>
          <p:cNvPr id="76" name="Text 74"/>
          <p:cNvSpPr txBox="1"/>
          <p:nvPr/>
        </p:nvSpPr>
        <p:spPr>
          <a:xfrm>
            <a:off x="9089136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disputed invoice a named owner and a clock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02920" y="530352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40080" y="546811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40080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50" dirty="0"/>
          </a:p>
        </p:txBody>
      </p:sp>
      <p:sp>
        <p:nvSpPr>
          <p:cNvPr id="80" name="Text 78"/>
          <p:cNvSpPr txBox="1"/>
          <p:nvPr/>
        </p:nvSpPr>
        <p:spPr>
          <a:xfrm>
            <a:off x="1106424" y="5367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(MIS) Agent</a:t>
            </a:r>
            <a:endParaRPr lang="en-US" sz="1030" dirty="0"/>
          </a:p>
        </p:txBody>
      </p:sp>
      <p:sp>
        <p:nvSpPr>
          <p:cNvPr id="81" name="Text 79"/>
          <p:cNvSpPr txBox="1"/>
          <p:nvPr/>
        </p:nvSpPr>
        <p:spPr>
          <a:xfrm>
            <a:off x="1106424" y="5632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</a:t>
            </a:r>
            <a:endParaRPr lang="en-US" sz="780" dirty="0"/>
          </a:p>
        </p:txBody>
      </p:sp>
      <p:sp>
        <p:nvSpPr>
          <p:cNvPr id="82" name="Text 80"/>
          <p:cNvSpPr txBox="1"/>
          <p:nvPr/>
        </p:nvSpPr>
        <p:spPr>
          <a:xfrm>
            <a:off x="640080" y="5852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leadership's questions on leakage, TAT and DSO</a:t>
            </a:r>
            <a:endParaRPr lang="en-US" sz="780" dirty="0"/>
          </a:p>
        </p:txBody>
      </p:sp>
      <p:sp>
        <p:nvSpPr>
          <p:cNvPr id="83" name="Text 8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13  •  BOOKING &amp; 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confirmed quote into a validated booking without manual re-entry.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confirmed quote, carrier schedules and cut-off times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booking task and checks carrier allocation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mandatory data field before the job is released to execution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special cargo or additional-service requirements at the point of booking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data missing past a defined deadline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conflicts with a carrier cut-off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Booking lead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Booking error rate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bookings straight-through, no human touch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13  •  BOOKING &amp; 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structures every shipping and customs document the moment it is uploaded.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and field extraction on BL/AWB, commercial invoice, packing list, CB filing documents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extracted data against the booking record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structured data into the digital job record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CCPL's own document formats over time to raise straight-through accuracy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confidence below threshold (illustrative: 90%)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unrecognised or data conflicts with booking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Field-level extraction accuracy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Document turnaround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documents straight-through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OF 13  •  EXECUTION &amp; CUSTOMS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job timeline current automatically, without manual follow-up calls.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carrier, port and customs (CB) events against the plan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job record the moment a milestone occurs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ETA drift from live event data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proactive customer update via the Management/Customer layer when a milestone shifts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milestone update for X days on an open job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deviates beyond an agreed threshold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On-time milestone update rate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Manual follow-up volume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ETA prediction accuracy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OF 13  •  EXECUTION &amp; CUSTOMS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scans every open job for anything that actually needs a human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job data streams against rules-engine thresholds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delays, missing data, rolled cargo and customs holds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every exception by business impact, not just recency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next action for the human reviewer, not just a flag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ranked exception is routed to a prioritised human queue — nothing is auto-resolved silently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Exception detection lead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Exception resolution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Exception recurrence rate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OF 13  •  COMPLIANCE &amp;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audit trail and keeps CCPL ahead of every regulatory and licensing deadline.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CHA/customs licence status and renewal dates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customs filing deadlines across every open CB job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DPDP-relevant data handling for anomalies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complete, timestamped audit trail per job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regulatory filing decision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licence-renewal risk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data-access anomaly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Filing on-time rate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Audit trail completeness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Licence renewal lead time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OF 13  •  COMPLIANCE &amp;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&amp; Screening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who CCPL is actually doing business with before a booking is confirmed — and keeps that verification current.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customer/vendor KYC at onboarding and on a periodic refresh cycle (IEC, GST, PAN, company registration)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every customer, consignee and notify party against denied-party, sanctions and watchlists (OFAC, UN, DGFT denied entity list) before the job is released to booking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AEO status and CHA/customs broker credentials for every counterparty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shell-company or high-risk-jurisdiction indicators for review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sanctions or denied-party match, however partial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 expired or missing for an active customer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jurisdiction or ownership structure detected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customers with current KYC on file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Screening turnaround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Sanctions/watchlist match rate (true vs. false positive)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OF 13  •  DELIVERY &amp; POD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/ POD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proof-of-delivery capture automatic instead of a manual chase — the single biggest fix for time-to-bill.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e-POD at the point of confirmed delivery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the signed POD to the job record immediately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operational job and releases it to billing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deviation — part-delivery, damage, short-landing — for review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not captured within an agreed window of confirmed delivery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delivery deviation logged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POD capture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PODs captured electronically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Billing-trigger delay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8 OF 13  •  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closed job into an accurate invoice within CCPL's existing TAT rules, every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every logged cost and chargeable event from the job record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charge lines and checks buy/sell alignment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invoice within TAT — Air 2, Ocean Export 3, Ocean Import 2 working days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billing clock at POD capture, not at an arbitrary later 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variance beyond tolerance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approaching a TAT breach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Billing cycle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TAT compliance %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Invoice accuracy rate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 OF 13  •  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Assurance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sure nothing chargeable slips through between execution and invoicing — the core defence against leakage.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three-way match: job cost vs. vendor bill vs. rate card, before every invoice release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that accessorial and demurrage events logged during execution have a matching charge line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rate-card mismatches between buy and sell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leakage findings straight to the control tower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three-way match exception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accessorial/demurrage event without a corresponding charge line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Revenue leakage rate (% of revenue)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Unbilled accessorials value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Three-way match exception rate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 OF 13  •  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Note &amp; Approval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uncontrolled credit notes from quietly eroding margin.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documented reason code for every credit note request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any credit note above a value threshold for named approval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credit note against the job, the reason, and the approver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credit-note trends by customer and cause to the control tower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value exceeds the approval threshold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code provided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Credit notes issued (value &amp; count)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with documented approval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Credit notes as % of billed revenue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11 OF 13  •  COLLECTIONS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structured, consistent follow-up ladder on every invoice so ageing doesn't happen by accident.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automated reminders by ageing bucket (0–30, 31–60, 61–90, 90+ days)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overdue invoices to the right named owner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partial payments and reconciles the remaining balance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ageing and DSO on the control tower daily, not at month-end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crosses the 61-day or 90-day threshold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payment doesn't reconcile cleanly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DSO (Days Sales Outstanding)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Ageing mix by bucket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Collections follow-up compliance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12 OF 13  •  COLLECTIONS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Resolution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disputed invoice a named owner and a clock, instead of letting it sit unresolved.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the dispute against the job the moment it is raised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named resolution owner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dispute against a resolution SLA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recurring dispute causes by customer or by charge type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open beyond its resolution SLA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dispute pattern recurs for the same customer or cause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Dispute rate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Dispute resolution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Disputes by root cause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13 OF 13  •  CONTROL TOWER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(MIS)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leadership's questions on this process in plain language, built on the existing Power BI models.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natural-language questions on leakage, TAT, DSO and volume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existing Power BI semantic models (Budget &amp; Forecast, Sales Dashboard, Ageing, Unbilled)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daily control-tower alerts without a manual report cycle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modifies underlying data — read-only and advisory by design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to a human / KPIs it owns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this agent is advisory only and never acts on a job directly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Query response time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Adoption rate among leadership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Control tower daily active use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DAY TO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Manpower Allocation — Roles Behind the 150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150 target headcount is not one generic job title — it is a specific set of roles, each paired with the agent(s) it works alongside and a clearly defined human responsibility.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23774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556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755648"/>
            <a:ext cx="182880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17556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755648"/>
            <a:ext cx="64008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75564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0" y="1755648"/>
            <a:ext cx="246888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68112" y="175564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AI agent(s)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863840" y="1755648"/>
            <a:ext cx="37490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175564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human responsibility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048256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0482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Supervisor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0" y="2048256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99232" y="204825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Doc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04825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204825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2048256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68112" y="204825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Document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2048256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36992" y="204825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data/carrier exceptions; owns allocation calls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2340864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234086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Specialist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0" y="2340864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99232" y="234086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Doc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340864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28032" y="23408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2340864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68112" y="234086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63840" y="2340864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36992" y="234086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low-confidence extractions and unrecognised formats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26334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Execution Coordinator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26080" y="2633472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99232" y="263347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Customs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633472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28032" y="263347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633472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68112" y="263347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Milestone, Exception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2633472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36992" y="263347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ranked exceptions; liaises with carrier/CFS/CB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2926080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2926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Broker Liaison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26080" y="2926080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99232" y="29260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Customs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926080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28032" y="292608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2926080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68112" y="292608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Milestone, Compliance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63840" y="2926080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36992" y="292608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filings; owns regulatory judgement calls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3218688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32186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26080" y="3218688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999232" y="321868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3218688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28032" y="321868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218688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68112" y="32186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863840" y="3218688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936992" y="321868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licensing/filing decisions the agent flags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48640" y="3511296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1792" y="35112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Screening Analyst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26080" y="3511296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999232" y="35112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Controls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3511296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828032" y="351129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394960" y="3511296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468112" y="351129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Screening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863840" y="3511296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936992" y="351129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Adjudicates sanctions/watchlist matches and onboarding risk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48640" y="3803904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1792" y="38039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Coordinator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926080" y="3803904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999232" y="38039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POD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54880" y="3803904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828032" y="38039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94960" y="3803904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468112" y="380390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POD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863840" y="3803904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936992" y="380390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 missing PODs; resolves delivery deviations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48640" y="4096512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21792" y="40965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Analyst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926080" y="4096512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999232" y="409651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754880" y="4096512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828032" y="40965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394960" y="4096512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468112" y="409651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Revenue Assurance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863840" y="4096512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936992" y="409651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flagged variances; releases invoices with exceptions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48640" y="4389120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21792" y="43891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Control Manager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926080" y="4389120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999232" y="43891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754880" y="4389120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828032" y="438912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394960" y="4389120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468112" y="4389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&amp; Approval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863840" y="4389120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936992" y="438912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credit notes above threshold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48640" y="4681728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21792" y="46817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QA / TAT Owner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926080" y="4681728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2999232" y="4681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754880" y="4681728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4828032" y="46817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394960" y="4681728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468112" y="468172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863840" y="4681728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936992" y="46817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TAT-breach escalations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48640" y="4974336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21792" y="49743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Executive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26080" y="4974336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999232" y="497433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754880" y="497433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828032" y="497433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394960" y="4974336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468112" y="497433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863840" y="4974336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936992" y="497433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escalated follow-up on 31+ day accounts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48640" y="5266944"/>
            <a:ext cx="23774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21792" y="526694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 Dispute Manager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926080" y="5266944"/>
            <a:ext cx="18288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2999232" y="52669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754880" y="5266944"/>
            <a:ext cx="6400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828032" y="526694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5394960" y="5266944"/>
            <a:ext cx="246888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5468112" y="526694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863840" y="5266944"/>
            <a:ext cx="374904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7936992" y="526694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named disputes and 90+ day recovery calls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48640" y="5559552"/>
            <a:ext cx="2377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21792" y="5559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 / MIS Lead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926080" y="5559552"/>
            <a:ext cx="18288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2999232" y="5559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4754880" y="5559552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4828032" y="55595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394960" y="5559552"/>
            <a:ext cx="2468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468112" y="55595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(MIS)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863840" y="5559552"/>
            <a:ext cx="3749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936992" y="555955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agent answers before leadership distribution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48640" y="5852160"/>
            <a:ext cx="2377440" cy="292608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621792" y="585216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2926080" y="5852160"/>
            <a:ext cx="1828800" cy="292608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2999232" y="585216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754880" y="5852160"/>
            <a:ext cx="640080" cy="292608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4828032" y="585216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5394960" y="5852160"/>
            <a:ext cx="2468880" cy="292608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5468112" y="585216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863840" y="5852160"/>
            <a:ext cx="3749040" cy="292608"/>
          </a:xfrm>
          <a:prstGeom prst="rect">
            <a:avLst/>
          </a:prstGeom>
          <a:solidFill>
            <a:srgbClr val="DCE8EE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7936992" y="58521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55" name="Text 153"/>
          <p:cNvSpPr txBox="1"/>
          <p:nvPr/>
        </p:nvSpPr>
        <p:spPr>
          <a:xfrm>
            <a:off x="548640" y="62544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not headcount, are what actually get redesigned — every person on this list has a named agent partner and a decision the agent is not allowed to make alone.</a:t>
            </a:r>
            <a:endParaRPr lang="en-US" sz="950" dirty="0"/>
          </a:p>
        </p:txBody>
      </p:sp>
      <p:sp>
        <p:nvSpPr>
          <p:cNvPr id="156" name="Text 15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57" name="Text 15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DAY TO DAY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— Three Tiers, Not 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 •  Exception Review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Specialists, Execution Coordinators, Billing Analysts, Collections Executives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DECIDE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ranked exception queue each agent produces; make the judgement call an agent flagged as inconclusive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same-day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 of the 150 FTE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13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73736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 •  Approval &amp; Control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Officer, KYC &amp; Screening Analyst, Credit Control Manager, Billing QA/TAT Owner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337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DECIDE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566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decisions the business has decided must always carry a named human — sanctions matches, credit notes above threshold, customs filings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Same-day, hard gate — agent cannot proceed without it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 of the 150 FTE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1331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173736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 •  Escalation &amp; Relationship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Cell Supervisors, Recovery/Dispute Manager, Control Tower/MIS Lead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337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DECIDE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566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what the exceptions themselves produce — recurring disputes, VIP issues, 90+ day recoveries, interpreting the control tower for leadership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huddle + weekly review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 of the 150 FTE — small, senior, decision-heavy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an agent never auto-resolves a sanctions match, a credit note above threshold, or a customer dispute — these stop at a named human by design, not by exception.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DAY TO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Rhythm That Makes This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smaller, AI-supported back office runs on a cadence, not on ad hoc firefighting — this is what a normal week looks like once the model is live.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2199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21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1854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15-min cell huddle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877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lead reviews the agent-ranked exception queue with their team; anything past SLA is assigned a named owner on the spot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22199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221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1854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tower check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877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Agent's leakage, TAT and DSO numbers reviewed by the Control Tower Lead before the first customer call of the 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393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6027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Cross-cell leakage review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05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Billing and Collections leads walk the week's three-way-match exceptions and credit notes together — patterns, not one-offs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6393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6027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performance review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005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escalation volume, false-positive rate and straight-through % reviewed; thresholds tuned, not the agent replaced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566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566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0200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RACI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42239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and leadership review sanctions-match trends, licence renewals and any threshold or approval-limit changes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949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50566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50566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50200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re-balance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542239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reallocated across cells based on where exception volume actually landed that month, not the original plan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Documentation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where missing or wrong data is cheapest to fix — and most expensive to leave for billing to discover later.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 against the quote; cut-offs and carrier allocation checked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data checklist validated before the job is released to execution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(BL/AWB, invoice, packing list) collected and read by the Document Agent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missing or inconsistent data is flagged back to sales/customer immediately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delay risk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 discovered only at billing, forcing re-work and invoice delay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buy-rate or vendor booked because of a manual entry error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cargo / additional-service requirements missed at booking, billed late or not at all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Execution &amp; Customs Compliance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stage in elapsed time — and the one where accessorial and customs charges are most often lost.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Agent tracks carrier/port events against the plan automatically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(CB) filing prepared and tracked against filing deadlines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Agent flags delays, rolled cargo, or customs holds for human action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service triggered during execution is logged against the job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delay risk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Demurrage, detention, or storage charges incurred but not logged against the job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Additional/accessorial services (fumigation, re-labelling, storage) performed but not captured for billing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penalty or delay cost absorbed instead of recovered where contractually recoverable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Proof of Delivery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the trigger event for billing — a delayed or missing POD is the single biggest cause of delayed invoicing.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 confirmed with the consignee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 (signed POD / e-POD) captured and attached to the job record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closes the operational job and releases it to billing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deviation from planned delivery (part-delivery, damage, short-landing) is logged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delay risk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collection delayed by days or weeks, pushing the entire billing clock back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Delivery-stage costs (last-mile, detention at destination) captured after invoicing, forcing a credit note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over delivery condition raised only when the invoice is contested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— Charge Capture &amp; Invoicing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upstream either gets captured here correctly, or it leaks. This is the highest-value control point in the whole process.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 pulls every logged cost and chargeable event from the job record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reconciliation performed line by line before invoice generation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raised against CCPL's existing TAT rules — Air 2, Ocean Export 3, Ocean Import 2 working days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variance beyond tolerance is queued for a human billing-desk review before the invoice goes out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delay risk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Accessorials, demurrage/detention, or destination charges never invoiced because they weren't logged upstream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Rate-card mismatches between buy and sell go undetected without a systematic three-way match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 issued without a documented reason or approval, quietly eroding margin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&amp; Cash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invoice raised late is still lost cash flow; recovery discipline is what turns billing into cash.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tracked from raised date through payment received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Agent runs a structured follow-up ladder by ageing bucket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routed to a named owner with a resolution SLA, not left open indefinitely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and DSO visible on the control tower, not discovered at quarter-end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delay risk here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ageing past 90 days with no active follow-up, heading toward write-off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invoices sit unresolved because no one owns the resolution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payments applied without reconciling the remaining balance, hiding real ageing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Actually Goes Missing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composition of revenue leakage at an ~₹800 Cr forwarder — directionally typical, to be validated against CCPL's own dispute and credit-note history.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0312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sizing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~1.8–2.2%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090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currently at risk of leakage, unmanaged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584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~₹15–17 Cr/yr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leakage at ₹800 Cr revenue today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4256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&lt;0.5%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773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 rate once controls in Section 11 are live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5266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~₹11–13 Cr/yr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56144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annual recovery once at target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Prevention Controls, Stage by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Three-way match at billing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line is matched against the job's logged cost, the vendor bill, and the rate card before release — automatically, by the Billing Agent.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801368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Accessorial capture at source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0574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additional service or cost logged during execution (Stage 2) is tagged to the job in real time, not recreated from memory at billing.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337560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POD-triggered billing clock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59359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billing TAT clock starts at POD capture, not at an arbitrary later date — removing the incentive to delay documentation.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1363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3337560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Credit-note approval workflow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59359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note is issued without a documented reason and a named approver above a value threshold.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873752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queue for variances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978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buy/sell or rate variance beyond tolerance is queued for human review instead of auto-approved or silently absorbed.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467258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4873752"/>
            <a:ext cx="146304" cy="9601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Ageing visibility on the control tower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12978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and overdue-receivable ageing is visible daily to ops and collections leads, not just at month-end.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Compressing the Clock from POD to Invoice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CCPL already has TAT rules in place — Air 2 working days, Ocean Export 3, Ocean Import 2. The gap today is compliance to those rules, not the rules themselves.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031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exists today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74320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collection is manual and inconsistent across branches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lines are assembled by hand from multiple sources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clerks wait for informal confirmation before invoicing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flag when a job is approaching TAT breach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029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95% of jobs billed within the existing TAT rule by end of Phase 2.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Invoice Raised to Cash Collected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receivable ageing profile — the goal is to shift the mix left, out of the 61+ day buckets, not just to chase the oldest invoices harder.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949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48840"/>
            <a:ext cx="3840480" cy="3886200"/>
          </a:xfrm>
          <a:prstGeom prst="roundRect">
            <a:avLst>
              <a:gd name="adj" fmla="val 190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9244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DSO target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 → ~35 days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Days Sales Outstanding, current vs. target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70332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days: automated reminder (Collections Agent)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days: account owner follow-up call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days: escalation to branch/ops lead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days: named recovery owner + credit-hold review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Booking-to-Billing Control Tower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ASSURANCE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rate (% of revenue)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accessorials value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 issued (value &amp; count)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exceptions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7373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BILL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42316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compliance by lane (Air/OE/OI)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POD → invoice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approaching TAT breach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backlog (jobs unbilled)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373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RECOVER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42316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(Days Sales Outstanding)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mix (0–30/31–60/61–90/90+)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rate &amp; resolution time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follow-up compliance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What, Booking to Billing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10896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92024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920240"/>
            <a:ext cx="173736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30752" y="192024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Cell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920240"/>
            <a:ext cx="173736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68112" y="192024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920240"/>
            <a:ext cx="173736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05472" y="192024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1920240"/>
            <a:ext cx="173736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42832" y="192024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48716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accessorial/demurrage charge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48716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248716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248716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48716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248716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05472" y="248716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48716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48716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054096"/>
            <a:ext cx="31089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05409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credit note above threshold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054096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30752" y="30540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054096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68112" y="30540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3054096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05472" y="30540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69680" y="3054096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42832" y="30540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621024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362102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invoice within TAT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36210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30752" y="362102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94960" y="36210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68112" y="362102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36210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05472" y="362102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36210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42832" y="362102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187952"/>
            <a:ext cx="31089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41879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90+ day receivable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0" y="4187952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730752" y="418795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94960" y="4187952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68112" y="418795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32320" y="4187952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05472" y="418795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69680" y="4187952"/>
            <a:ext cx="1737360" cy="566928"/>
          </a:xfrm>
          <a:prstGeom prst="rect">
            <a:avLst/>
          </a:prstGeom>
          <a:solidFill>
            <a:srgbClr val="F4F8FA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942832" y="418795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75488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792" y="47548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customs/CB filing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0" y="4754880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30752" y="4754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94960" y="4754880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68112" y="4754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132320" y="4754880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205472" y="4754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69680" y="4754880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942832" y="4754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458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A = Accountable   C = Consulted   I = Informed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 to Plug the Biggest Leaks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0116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job record to log every accessorial/demurrage event at the point it occurs, not at 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07792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90779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90779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three-way match (job cost vs. vendor bill vs. rate card) before any invoice is released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03904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8039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803904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POD capture the billing trigger; put a visible ageing flag on any job past that point without a POD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700016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7000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7–10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700016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collections follow-up ladder with a named owner per ageing bucket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596128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596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11–13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55961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leakage and TAT compliance results; lock in the controls that worked before Phase 2 of the wider programme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Structure: Booking to Billing  |  CCPL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2026-09-17T05:39:57Z</dcterms:created>
  <dcterms:modified xsi:type="dcterms:W3CDTF">2026-09-17T05:39:57Z</dcterms:modified>
</cp:coreProperties>
</file>